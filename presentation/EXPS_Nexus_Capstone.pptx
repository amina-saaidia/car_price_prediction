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02A43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102A43"/>
                </a:solidFill>
                <a:latin typeface="Cambria"/>
              </a:rPr>
              <a:t>R² Score — Before vs. After Correction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E8871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A4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8871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7A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Fix
(Inflated)</c:v>
                  </c:pt>
                  <c:pt idx="1">
                    <c:v>After Fix
(Corrected)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0.975</c:v>
                </c:pt>
                <c:pt idx="1">
                  <c:v>0.937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02A4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5"/>
        </c:scaling>
        <c:delete val="0"/>
        <c:axPos val="l"/>
        <c:majorGridlines>
          <c:spPr>
            <a:ln w="1270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C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0A1B2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365760"/>
            <a:ext cx="2926080" cy="2926080"/>
          </a:xfrm>
          <a:prstGeom prst="ellipse">
            <a:avLst/>
          </a:prstGeom>
          <a:solidFill>
            <a:srgbClr val="486581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94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 Pilot — Cohort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 Internship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Presentation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58368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Price Prediction  &amp;  Iris Flower Classification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46177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788920" y="4617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Saaidia Amina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" y="49469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88920" y="494690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EXPS_A-108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8368" y="52760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88920" y="527608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8368" y="560527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88920" y="560527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 Pilot — Cohort 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593445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788920" y="593445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Thamer Niati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561320" y="4892040"/>
            <a:ext cx="1051560" cy="1051560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19" name="Image 0" descr="/home/claude/capstone/icon_oilc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7921" y="5128641"/>
            <a:ext cx="578358" cy="5783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PRESENTER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Process Engineering to Data Science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66928" cy="566928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6" name="Image 0" descr="/home/claude/capstone/icon_grad_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96" y="1845076"/>
            <a:ext cx="351495" cy="351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Foundation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331720"/>
            <a:ext cx="48006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— Refining &amp; Process Engineering</a:t>
            </a:r>
            <a:endParaRPr lang="en-US" sz="13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training centered on process systems, quantitative analysis, and optimization under real industrial constraints.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foundation — modeling systems, interpreting sensor and process data, and reasoning about efficiency — carries directly into applied data science and machine learning workflows.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68680" y="4828032"/>
            <a:ext cx="4800600" cy="0"/>
          </a:xfrm>
          <a:prstGeom prst="line">
            <a:avLst/>
          </a:prstGeom>
          <a:noFill/>
          <a:ln w="12700">
            <a:solidFill>
              <a:srgbClr val="E3E8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4956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1st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868680" y="54681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internship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468880" y="4956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468880" y="54681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tasks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069080" y="4956048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4069080" y="5468112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on validation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102A43"/>
          </a:solidFill>
          <a:ln/>
        </p:spPr>
      </p:sp>
      <p:sp>
        <p:nvSpPr>
          <p:cNvPr id="17" name="Shape 14"/>
          <p:cNvSpPr/>
          <p:nvPr/>
        </p:nvSpPr>
        <p:spPr>
          <a:xfrm>
            <a:off x="6537960" y="173736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8" name="Image 1" descr="/home/claude/capstone/icon_indust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676" y="1845076"/>
            <a:ext cx="351495" cy="35149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2694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Translates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537960" y="2395728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Rigorous, data-driven decisions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2688336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engineering trains exactly the analytical discipline ML work demands.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37960" y="3337560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data shape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537960" y="363016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operations generate the same kind of structured, numeric, sensor-driven datasets used in ML pipelines.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537960" y="4279392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natural next step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537960" y="4572000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the AI-powered learning arm of Expert Petroleum Services — connects that industrial base to applied AI.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537960" y="522122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entry point, not a detour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537960" y="5513832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builds directly on that engineering foundation rather than starting from zero.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DELIVERABLES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Overviews &amp;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37360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/home/claude/capstone/icon_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96" y="1845076"/>
            <a:ext cx="351495" cy="351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60020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 Price Prediction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68680" y="2514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problem: predict the resale price of used cars from the CarDekho dataset (Indian used-car market, ~8,128 listings).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68680" y="36118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accurate, honestly-validated regression pipeline that generalizes to unseen listings.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4251960"/>
            <a:ext cx="4800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target: selling price (INR)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cleaning → features → model → evaluation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Gradient Boosting Regressor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101600" dist="38100" dir="5400000">
              <a:srgbClr val="1B243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37960" y="1737360"/>
            <a:ext cx="566928" cy="566928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15" name="Image 1" descr="/home/claude/capstone/icon_ir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676" y="1845076"/>
            <a:ext cx="351495" cy="35149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865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269480" y="19476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Iris Flower Classification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6537960" y="2514600"/>
            <a:ext cx="4800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problem: identify the species of an iris flower from four measured features.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65379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537960" y="3611880"/>
            <a:ext cx="4800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several classifiers on a clean benchmark dataset and select the strongest performer.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537960" y="4251960"/>
            <a:ext cx="48006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classes: Setosa, Versicolor, Virginica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compared: Logistic Regression, KNN, Random Forest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K-Nearest Neighbors (KNN)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37033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37360"/>
            <a:ext cx="566928" cy="566928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6" name="Image 0" descr="/home/claude/capstone/icon_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48" y="1845076"/>
            <a:ext cx="351495" cy="351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755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3232" y="24414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the full workflow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481328"/>
            <a:ext cx="37033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1737360"/>
            <a:ext cx="566928" cy="566928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11" name="Image 1" descr="/home/claude/capstone/icon_lap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860" y="1845076"/>
            <a:ext cx="351495" cy="3514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755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Jupyter Notebooks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1144" y="24414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Exploratory, documented analysis in .ipynb files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481328"/>
            <a:ext cx="37033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49056" y="1737360"/>
            <a:ext cx="566928" cy="566928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6" name="Image 2" descr="/home/claude/capstone/icon_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772" y="1845076"/>
            <a:ext cx="351495" cy="3514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98864" y="175564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Pandas &amp; NumPy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49056" y="2441448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cleaning, and numeric computation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794760"/>
            <a:ext cx="37033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13232" y="4050792"/>
            <a:ext cx="566928" cy="566928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21" name="Image 3" descr="/home/claude/capstone/icon_cog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48" y="4158508"/>
            <a:ext cx="351495" cy="3514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13232" y="47548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preprocessing, and model training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25112" y="3794760"/>
            <a:ext cx="37033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81144" y="4050792"/>
            <a:ext cx="566928" cy="566928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26" name="Image 4" descr="/home/claude/capstone/icon_chartb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860" y="4158508"/>
            <a:ext cx="351495" cy="35149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30952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Matplotlib &amp; Seaborn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81144" y="47548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and visualization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3024" y="3794760"/>
            <a:ext cx="3703320" cy="2148840"/>
          </a:xfrm>
          <a:prstGeom prst="roundRect">
            <a:avLst>
              <a:gd name="adj" fmla="val 2979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49056" y="4050792"/>
            <a:ext cx="566928" cy="566928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31" name="Image 5" descr="/home/claude/capstone/icon_branc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6772" y="4158508"/>
            <a:ext cx="351495" cy="35149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98864" y="406908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49056" y="475488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and public repository submission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CAR PRICE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Passed Through — Cleaning &amp;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703320" cy="46177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19072"/>
            <a:ext cx="566928" cy="566928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6" name="Image 0" descr="/home/claude/capstone/icon_b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948" y="1826788"/>
            <a:ext cx="351495" cy="351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383280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13232" y="2907792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messy text-with-units fields into clean numeric columns:</a:t>
            </a:r>
            <a:endParaRPr lang="en-US" sz="1150" dirty="0"/>
          </a:p>
          <a:p>
            <a:pPr lvl="1" marL="6858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"23.4 kmpl" → mileage_kmpl</a:t>
            </a:r>
            <a:endParaRPr lang="en-US" sz="1150" dirty="0"/>
          </a:p>
          <a:p>
            <a:pPr lvl="1" marL="6858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"1248 CC" → engine_cc</a:t>
            </a:r>
            <a:endParaRPr lang="en-US" sz="1150" dirty="0"/>
          </a:p>
          <a:p>
            <a:pPr lvl="1" marL="6858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"74 bhp" → max_power_bhp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463040"/>
            <a:ext cx="3703320" cy="46177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81144" y="1719072"/>
            <a:ext cx="566928" cy="566928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2" name="Image 1" descr="/home/claude/capstone/icon_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8860" y="1826788"/>
            <a:ext cx="351495" cy="35149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51192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4581144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81144" y="2907792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car_age from the manufacturing year</a:t>
            </a:r>
            <a:endParaRPr lang="en-US" sz="1150" dirty="0"/>
          </a:p>
          <a:p>
            <a:pPr lvl="1" marL="6858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the owner-history text field into owner_num</a:t>
            </a:r>
            <a:endParaRPr lang="en-US" sz="1150" dirty="0"/>
          </a:p>
          <a:p>
            <a:pPr lvl="1" marL="6858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categorical fields (fuel, transmission, seller type) for modeling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93024" y="1463040"/>
            <a:ext cx="3703320" cy="46177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49056" y="1719072"/>
            <a:ext cx="566928" cy="566928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8" name="Image 2" descr="/home/claude/capstone/icon_fil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772" y="1826788"/>
            <a:ext cx="351495" cy="35149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19104" y="1645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3E8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8449056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Imputation &amp; Outlier Handling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8449056" y="2907792"/>
            <a:ext cx="32004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spcAft>
                <a:spcPts val="600"/>
              </a:spcAft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filled with median imputation</a:t>
            </a:r>
            <a:endParaRPr lang="en-US" sz="1150" dirty="0"/>
          </a:p>
          <a:p>
            <a:pPr lvl="1" marL="6858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price and mileage values capped to reduce distortion</a:t>
            </a:r>
            <a:endParaRPr lang="en-US" sz="1150" dirty="0"/>
          </a:p>
          <a:p>
            <a:pPr lvl="1" marL="685800" indent="-342900">
              <a:lnSpc>
                <a:spcPct val="118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applied strictly after the train/test split to avoid leakage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CAR PRICE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Passed Through — EDA, Modeling &amp; Evaluation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6" name="Image 0" descr="/home/claude/capstone/icon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96" y="1872508"/>
            <a:ext cx="351495" cy="3514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28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 — What Drives Price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5029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power (max_power_bhp) — strong positive driver of price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age — resale value drops steadily as cars get older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type — automatic listings command a clear premium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type — diesel vs. petrol shows a consistent price gap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309360" y="1463040"/>
            <a:ext cx="5303520" cy="4572000"/>
          </a:xfrm>
          <a:prstGeom prst="roundRect">
            <a:avLst>
              <a:gd name="adj" fmla="val 1600"/>
            </a:avLst>
          </a:prstGeom>
          <a:solidFill>
            <a:srgbClr val="102A43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1764792"/>
            <a:ext cx="566928" cy="566928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1" name="Image 1" descr="/home/claude/capstone/icon_chartli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116" y="1872508"/>
            <a:ext cx="351495" cy="3514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&amp; Evaluation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29400" y="2423160"/>
            <a:ext cx="475488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and model steps chained in a single Scikit-learn pipeline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regressors trained and compared on held-out test data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selected as the best-performing model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R², RMSE, and MAE for a rounded view of accuracy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· IRIS FLOWER CLASSIFICATION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Steps Passed Through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40180" y="1645920"/>
            <a:ext cx="822960" cy="82296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5" name="Image 0" descr="/home/claude/capstone/icon_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5346" y="183108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&amp; Explore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classic Iris dataset and reviewed feature distributions across the three species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172968" y="2057400"/>
            <a:ext cx="219456" cy="0"/>
          </a:xfrm>
          <a:prstGeom prst="line">
            <a:avLst/>
          </a:prstGeom>
          <a:noFill/>
          <a:ln w="19050">
            <a:solidFill>
              <a:srgbClr val="C7D2DE"/>
            </a:solidFill>
            <a:prstDash val="dash"/>
          </a:ln>
        </p:spPr>
      </p:sp>
      <p:sp>
        <p:nvSpPr>
          <p:cNvPr id="9" name="Shape 6"/>
          <p:cNvSpPr/>
          <p:nvPr/>
        </p:nvSpPr>
        <p:spPr>
          <a:xfrm>
            <a:off x="4302252" y="1645920"/>
            <a:ext cx="822960" cy="82296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0" name="Image 1" descr="/home/claude/capstone/icon_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7418" y="1831086"/>
            <a:ext cx="452628" cy="4526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10712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 Data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3410712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features and labels, then created train/test sets for fair, unbiased evaluation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035040" y="2057400"/>
            <a:ext cx="219456" cy="0"/>
          </a:xfrm>
          <a:prstGeom prst="line">
            <a:avLst/>
          </a:prstGeom>
          <a:noFill/>
          <a:ln w="19050">
            <a:solidFill>
              <a:srgbClr val="C7D2DE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7164324" y="1645920"/>
            <a:ext cx="822960" cy="822960"/>
          </a:xfrm>
          <a:prstGeom prst="ellipse">
            <a:avLst/>
          </a:prstGeom>
          <a:solidFill>
            <a:srgbClr val="102A43"/>
          </a:solidFill>
          <a:ln/>
        </p:spPr>
      </p:sp>
      <p:pic>
        <p:nvPicPr>
          <p:cNvPr id="15" name="Image 2" descr="/home/claude/capstone/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9490" y="1831086"/>
            <a:ext cx="452628" cy="45262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272784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Models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6272784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tuned Logistic Regression, K-Nearest Neighbors, and Random Forest classifiers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897112" y="2057400"/>
            <a:ext cx="219456" cy="0"/>
          </a:xfrm>
          <a:prstGeom prst="line">
            <a:avLst/>
          </a:prstGeom>
          <a:noFill/>
          <a:ln w="19050">
            <a:solidFill>
              <a:srgbClr val="C7D2DE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10026396" y="1645920"/>
            <a:ext cx="822960" cy="82296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20" name="Image 3" descr="/home/claude/capstone/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1562" y="1831086"/>
            <a:ext cx="452628" cy="45262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34856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Best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9134856" y="3063240"/>
            <a:ext cx="26060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accuracy across models — K-Nearest Neighbors gave the strongest, most consistent results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02A43"/>
          </a:solidFill>
          <a:ln/>
        </p:spPr>
      </p:sp>
      <p:sp>
        <p:nvSpPr>
          <p:cNvPr id="24" name="Text 18"/>
          <p:cNvSpPr/>
          <p:nvPr/>
        </p:nvSpPr>
        <p:spPr>
          <a:xfrm>
            <a:off x="868680" y="50749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KNN won: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2880360" y="5074920"/>
            <a:ext cx="8549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species form tightly clustered, well-separated groups in feature space — the exact pattern a distance-based method like KNN is built to exploit.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THROUGH OBSTACLES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Difficulties &amp; Challenges Encountered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38528"/>
            <a:ext cx="621792" cy="62179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/home/claude/capstone/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100" y="2056668"/>
            <a:ext cx="385511" cy="3855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733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Messy, Unstandardized Text Data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91640" y="2057400"/>
            <a:ext cx="95097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fields mixed numbers with units and inconsistent formatting (e.g. "23.4 kmpl", "1248 CC"), requiring careful parsing before any modeling could begin.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3127248"/>
            <a:ext cx="11064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557016"/>
            <a:ext cx="621792" cy="62179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1" name="Image 1" descr="/home/claude/capstone/icon_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100" y="3675156"/>
            <a:ext cx="385511" cy="38551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32918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Skewed Target Distribution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3675888"/>
            <a:ext cx="95097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Used-car prices were heavily right-skewed, with a long tail of high-value listings — handled through outlier capping and evaluation metrics robust to skew.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745736"/>
            <a:ext cx="11064240" cy="1481328"/>
          </a:xfrm>
          <a:prstGeom prst="roundRect">
            <a:avLst>
              <a:gd name="adj" fmla="val 4321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5175504"/>
            <a:ext cx="621792" cy="621792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16" name="Image 2" descr="/home/claude/capstone/icon_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100" y="5293644"/>
            <a:ext cx="385511" cy="38551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910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Selection Across Dataset Sizes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91640" y="5294376"/>
            <a:ext cx="9509760" cy="7955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(150 rows) and Task 3 (~8,128 rows) called for different modeling choices — what worked well on a small, clean benchmark was not automatically right for a larger, noisier real-world dataset.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 · CAR PRICE PREDICTION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Catching a Data Leakage Issue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R² of 0.975 looked excellent — until closer review traced it to duplicate rows shared between train and test, and to imputation performed before the split. Both were fixed and re-validated.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148840"/>
          <a:ext cx="55778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2148840"/>
            <a:ext cx="5166360" cy="3977640"/>
          </a:xfrm>
          <a:prstGeom prst="roundRect">
            <a:avLst>
              <a:gd name="adj" fmla="val 1839"/>
            </a:avLst>
          </a:prstGeom>
          <a:solidFill>
            <a:srgbClr val="102A43"/>
          </a:solidFill>
          <a:ln/>
        </p:spPr>
      </p:sp>
      <p:sp>
        <p:nvSpPr>
          <p:cNvPr id="7" name="Shape 4"/>
          <p:cNvSpPr/>
          <p:nvPr/>
        </p:nvSpPr>
        <p:spPr>
          <a:xfrm>
            <a:off x="6766560" y="2450592"/>
            <a:ext cx="566928" cy="566928"/>
          </a:xfrm>
          <a:prstGeom prst="ellipse">
            <a:avLst/>
          </a:prstGeom>
          <a:solidFill>
            <a:srgbClr val="2C7A50"/>
          </a:solidFill>
          <a:ln/>
        </p:spPr>
      </p:sp>
      <p:pic>
        <p:nvPicPr>
          <p:cNvPr id="8" name="Image 0" descr="/home/claude/capstone/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4276" y="2558308"/>
            <a:ext cx="351495" cy="35149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0" y="24871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Lower Score Is the Right One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6766560" y="3246120"/>
            <a:ext cx="4617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0.937 reflects genuine performance on truly unseen data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duplicates closed a direct train/test overlap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imputation after the split stopped test-set information from leaking into training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pipeline: Gradient Boosting Regressor, validated with R², RMSE, and MAE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0A1B2E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Deliverables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10881360" cy="1874520"/>
          </a:xfrm>
          <a:prstGeom prst="roundRect">
            <a:avLst>
              <a:gd name="adj" fmla="val 3902"/>
            </a:avLst>
          </a:prstGeom>
          <a:solidFill>
            <a:srgbClr val="17334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1993392"/>
            <a:ext cx="685800" cy="68580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7" name="Image 0" descr="/home/claude/capstone/icon_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3055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20240" y="1938528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github.com/amina-saaidia/EXPS_CarPrice_Iris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920240" y="239572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repository submitted for both tasks under the EXPS Nexus program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20240" y="2761488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 notebooks for Task 1 and Task 3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presentation slides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datasets used (Iris + CarDekho)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88620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7334F"/>
          </a:solidFill>
          <a:ln/>
        </p:spPr>
      </p:sp>
      <p:sp>
        <p:nvSpPr>
          <p:cNvPr id="12" name="Shape 9"/>
          <p:cNvSpPr/>
          <p:nvPr/>
        </p:nvSpPr>
        <p:spPr>
          <a:xfrm>
            <a:off x="877824" y="4123944"/>
            <a:ext cx="530352" cy="530352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13" name="Image 1" descr="/home/claude/capstone/icon_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591" y="4224711"/>
            <a:ext cx="328818" cy="3288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77824" y="480060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Tasks Complete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877824" y="5184648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 Classification (Task 1) and Car Price Prediction (Task 3), fully documented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34256" y="388620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7334F"/>
          </a:solidFill>
          <a:ln/>
        </p:spPr>
      </p:sp>
      <p:sp>
        <p:nvSpPr>
          <p:cNvPr id="17" name="Shape 13"/>
          <p:cNvSpPr/>
          <p:nvPr/>
        </p:nvSpPr>
        <p:spPr>
          <a:xfrm>
            <a:off x="4572000" y="4123944"/>
            <a:ext cx="530352" cy="530352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18" name="Image 2" descr="/home/claude/capstone/icon_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767" y="4224711"/>
            <a:ext cx="328818" cy="32881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0" y="480060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Validation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4572000" y="5184648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identified, corrected, and transparently reported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28432" y="3886200"/>
            <a:ext cx="3502152" cy="2148840"/>
          </a:xfrm>
          <a:prstGeom prst="roundRect">
            <a:avLst>
              <a:gd name="adj" fmla="val 3404"/>
            </a:avLst>
          </a:prstGeom>
          <a:solidFill>
            <a:srgbClr val="17334F"/>
          </a:solidFill>
          <a:ln/>
        </p:spPr>
      </p:sp>
      <p:sp>
        <p:nvSpPr>
          <p:cNvPr id="22" name="Shape 17"/>
          <p:cNvSpPr/>
          <p:nvPr/>
        </p:nvSpPr>
        <p:spPr>
          <a:xfrm>
            <a:off x="8266176" y="4123944"/>
            <a:ext cx="530352" cy="530352"/>
          </a:xfrm>
          <a:prstGeom prst="ellipse">
            <a:avLst/>
          </a:prstGeom>
          <a:solidFill>
            <a:srgbClr val="486581"/>
          </a:solidFill>
          <a:ln/>
        </p:spPr>
      </p:sp>
      <p:pic>
        <p:nvPicPr>
          <p:cNvPr id="23" name="Image 3" descr="/home/claude/capstone/icon_grad_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943" y="4224711"/>
            <a:ext cx="328818" cy="32881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66176" y="4800600"/>
            <a:ext cx="3044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Mentor-Reviewed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8266176" y="5184648"/>
            <a:ext cx="304495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 Thamer Niati — EXPS Nexus, Algeria Pilot Cohort 01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0A1B2E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-365760"/>
            <a:ext cx="2926080" cy="2926080"/>
          </a:xfrm>
          <a:prstGeom prst="ellipse">
            <a:avLst/>
          </a:prstGeom>
          <a:solidFill>
            <a:srgbClr val="48658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846320"/>
            <a:ext cx="5029200" cy="5029200"/>
          </a:xfrm>
          <a:prstGeom prst="ellipse">
            <a:avLst/>
          </a:prstGeom>
          <a:solidFill>
            <a:srgbClr val="0A1B2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22960"/>
            <a:ext cx="777240" cy="777240"/>
          </a:xfrm>
          <a:prstGeom prst="ellipse">
            <a:avLst/>
          </a:prstGeom>
          <a:solidFill>
            <a:srgbClr val="E8871E"/>
          </a:solidFill>
          <a:ln/>
        </p:spPr>
      </p:sp>
      <p:pic>
        <p:nvPicPr>
          <p:cNvPr id="6" name="Image 0" descr="/home/claude/capstone/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0172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251460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58368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58368" y="42976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788920" y="4297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Saaidia Amina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462686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788920" y="462686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Thamer Niati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58368" y="49560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88920" y="4956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Algeria Pilot, Cohort 01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github.com/amina-saaidia/EXPS_CarPrice_Iris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EXPS NEXUS — DATA SCIENCE CAPSTONE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4712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CC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2026-09-08T18:53:45Z</dcterms:created>
  <dcterms:modified xsi:type="dcterms:W3CDTF">2026-09-08T18:53:45Z</dcterms:modified>
</cp:coreProperties>
</file>